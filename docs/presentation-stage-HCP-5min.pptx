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6E4F"/>
                </a:solidFill>
                <a:latin typeface="Calibri"/>
              </a:rPr>
              <a:t>HAUT-COMMISSARIAT AU PLAN  ·  DIRECTION DE LA STATISTIQUE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4211C"/>
                </a:solidFill>
                <a:latin typeface="Calibri"/>
              </a:rPr>
              <a:t>Application de collecte d'enquêtes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4000" b="1">
                <a:solidFill>
                  <a:srgbClr val="14211C"/>
                </a:solidFill>
                <a:latin typeface="Calibri"/>
              </a:rPr>
              <a:t>pour les enquêteurs de terrain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53625B"/>
                </a:solidFill>
                <a:latin typeface="Calibri"/>
              </a:rPr>
              <a:t>Fonctionne sans réseau · Questionnaires générés depuis un document Word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1" y="4526280"/>
            <a:ext cx="201168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846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4211C"/>
                </a:solidFill>
                <a:latin typeface="Calibri"/>
              </a:rPr>
              <a:t>ABDELLAH ELMIR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Élève ingénieur — Data Engineering &amp; Intelligence Artificielle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Soutenance de stage —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CONTEXTE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Le problème, et la réponse apportée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84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E6E4"/>
                </a:solidFill>
                <a:latin typeface="Calibri"/>
              </a:rPr>
              <a:t>45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12080" cy="3200400"/>
          </a:xfrm>
          <a:prstGeom prst="roundRect">
            <a:avLst/>
          </a:prstGeom>
          <a:solidFill>
            <a:srgbClr val="FBF0DC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8A5B08"/>
                </a:solidFill>
                <a:latin typeface="Calibri"/>
              </a:rPr>
              <a:t>LE PROBLÈME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Les enquêteurs travaillent là où il n'y a pas de réseau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La collecte papier impose une double saisie et des semaines de délai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Chaque enquête a une forme différente : impossible de coder une application par enquête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Transcrire un questionnaire Word à la main prend des heures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212080" cy="3200400"/>
          </a:xfrm>
          <a:prstGeom prst="roundRect">
            <a:avLst/>
          </a:prstGeom>
          <a:solidFill>
            <a:srgbClr val="E8F2EE"/>
          </a:solidFill>
          <a:ln w="15875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1">
                <a:solidFill>
                  <a:srgbClr val="0B6E4F"/>
                </a:solidFill>
                <a:latin typeface="Calibri"/>
              </a:rPr>
              <a:t>LA RÉPONSE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La base locale du téléphone est la source de vérité : l'application ignore le réseau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Le questionnaire est décrit en JSON, pas programmé : nouvelle enquête sans recompiler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Un document Word est converti automatiquement, puis relu par l'administrateur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—  Les réponses remontent seules dès que la connexion revient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074920"/>
            <a:ext cx="10789920" cy="68580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Flutter et Riverpod pour l'application  ·  SQLite et Drift en local  ·  Node.js, Express et PostgreSQL côté serveur  ·  Google Gemini pour la conversion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MODÉLISATION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Qui fait quoi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84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E6E4"/>
                </a:solidFill>
                <a:latin typeface="Calibri"/>
              </a:rPr>
              <a:t>60 s</a:t>
            </a:r>
          </a:p>
        </p:txBody>
      </p:sp>
      <p:pic>
        <p:nvPicPr>
          <p:cNvPr id="6" name="Picture 5" descr="usecaseh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940" y="1371600"/>
            <a:ext cx="3952839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Deux rôles seulement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L'enquêteur sur le terrain,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l'administrateur au bureau.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Deux systèmes externes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Le service d'IA et le serveur :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l'application les appelle,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elle ne les contient pas.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En jaune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Tout ce qui fonctionne sans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aucune connexion — c'est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la quasi-totalité du travail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de l'enquêteur.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Comment ça marche sans réseau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84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E6E4"/>
                </a:solidFill>
                <a:latin typeface="Calibri"/>
              </a:rPr>
              <a:t>75 s</a:t>
            </a:r>
          </a:p>
        </p:txBody>
      </p:sp>
      <p:pic>
        <p:nvPicPr>
          <p:cNvPr id="6" name="Picture 5" descr="synch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803" y="1371600"/>
            <a:ext cx="564431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173736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4211C"/>
                </a:solidFill>
                <a:latin typeface="Calibri"/>
              </a:rPr>
              <a:t>La donnée est écrite en local à chaque saisie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3625B"/>
                </a:solidFill>
                <a:latin typeface="Calibri"/>
              </a:rPr>
              <a:t>Aucun écran n'appelle le réseau.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À la validation : « en attente d'envoi »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Au retour du réseau, tout part automatiquement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623560"/>
            <a:ext cx="10789920" cy="914400"/>
          </a:xfrm>
          <a:prstGeom prst="roundRect">
            <a:avLst/>
          </a:prstGeom>
          <a:solidFill>
            <a:srgbClr val="E8F2EE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4211C"/>
                </a:solidFill>
                <a:latin typeface="Calibri"/>
              </a:rPr>
              <a:t>Point clé : l'identifiant de chaque réponse est généré sur le téléphone. Si le réseau coupe en plein envoi et que l'enquêteur réessaie, le serveur reconnaît le même identifiant et met à jour la ligne au lieu d'en créer une seconde. Aucun doublon dans les statistiques nationales.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GÉNÉRATION ASSISTÉE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Du document Word au questionnaire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84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E6E4"/>
                </a:solidFill>
                <a:latin typeface="Calibri"/>
              </a:rPr>
              <a:t>75 s</a:t>
            </a:r>
          </a:p>
        </p:txBody>
      </p:sp>
      <p:pic>
        <p:nvPicPr>
          <p:cNvPr id="6" name="Picture 5" descr="generate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33" y="1371600"/>
            <a:ext cx="3173333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37760" y="16459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Le texte est extrait sans IA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La structure du .docx sert à écarter les titres de section.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Le modèle reçoit une liste numérotée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Il doit rendre exactement le même nombre de questions.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Chaque lot de 25 est vérifié, et refait s'il en manque une.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Le résultat est validé puis réparé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Type inconnu ramené à du texte, options dupliquées supprimées.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Chaque correction est signalée, jamais silencieuse.</a:t>
            </a:r>
          </a:p>
          <a:p>
            <a:pPr>
              <a:lnSpc>
                <a:spcPct val="100000"/>
              </a:lnSpc>
              <a:spcBef>
                <a:spcPts val="1000"/>
              </a:spcBef>
              <a:spcAft>
                <a:spcPts val="200"/>
              </a:spcAft>
            </a:pPr>
            <a:r>
              <a:rPr sz="1500" b="1">
                <a:solidFill>
                  <a:srgbClr val="14211C"/>
                </a:solidFill>
                <a:latin typeface="Calibri"/>
              </a:rPr>
              <a:t>Rien n'est publié sans relecture humaine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3625B"/>
                </a:solidFill>
                <a:latin typeface="Calibri"/>
              </a:rPr>
              <a:t>L'administrateur voit l'enquête comme l'enquêteur la verra,</a:t>
            </a:r>
            <a:br/>
            <a:r>
              <a:rPr sz="1300" b="0">
                <a:solidFill>
                  <a:srgbClr val="53625B"/>
                </a:solidFill>
                <a:latin typeface="Calibri"/>
              </a:rPr>
              <a:t>corrige à la main ou redemande à l'IA, puis publie.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5349240"/>
            <a:ext cx="6583680" cy="1005840"/>
          </a:xfrm>
          <a:prstGeom prst="roundRect">
            <a:avLst/>
          </a:prstGeom>
          <a:solidFill>
            <a:srgbClr val="FBF0DC"/>
          </a:solidFill>
          <a:ln w="952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46304" bIns="146304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5B08"/>
                </a:solidFill>
                <a:latin typeface="Calibri"/>
              </a:rPr>
              <a:t>Sur un document de 100 questions répétitives, le modèle n'en avait rendu que 10 en les fusionnant — avec un JSON parfaitement valide. C'est ce qui a imposé la liste numérotée et la vérification du nombre. Après correction : 100 sur 100, 150 sur 150.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6E4F"/>
                </a:solidFill>
                <a:latin typeface="Calibri"/>
              </a:rPr>
              <a:t>BILAN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211C"/>
                </a:solidFill>
                <a:latin typeface="Calibri"/>
              </a:rPr>
              <a:t>Résultats et état d'avancement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88720"/>
            <a:ext cx="1371600" cy="381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384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2E6E4"/>
                </a:solidFill>
                <a:latin typeface="Calibri"/>
              </a:rPr>
              <a:t>60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9811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E4F"/>
                </a:solidFill>
                <a:latin typeface="Calibri"/>
              </a:rPr>
              <a:t>9,8 / 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3625B"/>
                </a:solidFill>
                <a:latin typeface="Calibri"/>
              </a:rPr>
              <a:t>qualité de conversion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539" y="1600200"/>
            <a:ext cx="19811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E4F"/>
                </a:solidFill>
                <a:latin typeface="Calibri"/>
              </a:rPr>
              <a:t>5 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3625B"/>
                </a:solidFill>
                <a:latin typeface="Calibri"/>
              </a:rPr>
              <a:t>pour 10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5278" y="1600200"/>
            <a:ext cx="19811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E4F"/>
                </a:solidFill>
                <a:latin typeface="Calibri"/>
              </a:rPr>
              <a:t>150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3625B"/>
                </a:solidFill>
                <a:latin typeface="Calibri"/>
              </a:rPr>
              <a:t>questions sans perte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017" y="1600200"/>
            <a:ext cx="19811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E4F"/>
                </a:solidFill>
                <a:latin typeface="Calibri"/>
              </a:rPr>
              <a:t>52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3625B"/>
                </a:solidFill>
                <a:latin typeface="Calibri"/>
              </a:rPr>
              <a:t>tests automatisés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4756" y="1600200"/>
            <a:ext cx="1981139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B6E4F"/>
                </a:solidFill>
                <a:latin typeface="Calibri"/>
              </a:rPr>
              <a:t>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3625B"/>
                </a:solidFill>
                <a:latin typeface="Calibri"/>
              </a:rPr>
              <a:t>doublon possible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17520"/>
            <a:ext cx="5212080" cy="2743200"/>
          </a:xfrm>
          <a:prstGeom prst="roundRect">
            <a:avLst/>
          </a:prstGeom>
          <a:solidFill>
            <a:srgbClr val="E8F2EE"/>
          </a:solidFill>
          <a:ln w="15875">
            <a:solidFill>
              <a:srgbClr val="0B6E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0B6E4F"/>
                </a:solidFill>
                <a:latin typeface="Calibri"/>
              </a:rPr>
              <a:t>TERMINÉ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Authentification en ligne et hors ligne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Téléchargement et remplissage hors ligne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Synchronisation automatique, sans doublon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Interface et questionnaires bilingues français / arabe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Conversion Word vers questionnaire, avec relecture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14211C"/>
                </a:solidFill>
                <a:latin typeface="Calibri"/>
              </a:rPr>
              <a:t>—  Tableau de bord et export CSV pour les statisticiens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017520"/>
            <a:ext cx="5212080" cy="2743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01168" rIns="27432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8A5B08"/>
                </a:solidFill>
                <a:latin typeface="Calibri"/>
              </a:rPr>
              <a:t>RESTE À FAIRE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—  Synchronisation descendante : le serveur ne renvoie pas encore l'historique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—  Gestion des conflits : le dernier envoi écrase le précédent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—  Quatorze types de questions restent à implémenter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—  Compilation de l'application Android installable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3625B"/>
                </a:solidFill>
                <a:latin typeface="Calibri"/>
              </a:rPr>
              <a:t>—  Durcissement pour la mise en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1500" b="1">
                <a:solidFill>
                  <a:srgbClr val="0B6E4F"/>
                </a:solidFill>
                <a:latin typeface="Calibri"/>
              </a:rPr>
              <a:t>En résumé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4211C"/>
                </a:solidFill>
                <a:latin typeface="Calibri"/>
              </a:rPr>
              <a:t>Une application de terrain réellement utilisable sans réseau,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4211C"/>
                </a:solidFill>
                <a:latin typeface="Calibri"/>
              </a:rPr>
              <a:t>capable d'accueillir n'importe quelle enquête sans reprogrammation,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200"/>
              </a:spcAft>
            </a:pPr>
            <a:r>
              <a:rPr sz="2500" b="1">
                <a:solidFill>
                  <a:srgbClr val="14211C"/>
                </a:solidFill>
                <a:latin typeface="Calibri"/>
              </a:rPr>
              <a:t>et un questionnaire préparé en quelques secondes au lieu de plusieurs heures.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3625B"/>
                </a:solidFill>
                <a:latin typeface="Calibri"/>
              </a:rPr>
              <a:t>Merci de votre attention.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3625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