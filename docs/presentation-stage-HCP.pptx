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6E4F"/>
                </a:solidFill>
                <a:latin typeface="Calibri"/>
              </a:rPr>
              <a:t>HAUT-COMMISSARIAT AU PLAN  ·  DIRECTION DE LA STATISTIQUE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659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>
                <a:solidFill>
                  <a:srgbClr val="14211C"/>
                </a:solidFill>
                <a:latin typeface="Calibri"/>
              </a:rPr>
              <a:t>Application de collecte d'enquêtes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4200" b="1">
                <a:solidFill>
                  <a:srgbClr val="14211C"/>
                </a:solidFill>
                <a:latin typeface="Calibri"/>
              </a:rPr>
              <a:t>pour les enquêteurs de terrain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53625B"/>
                </a:solidFill>
                <a:latin typeface="Calibri"/>
              </a:rPr>
              <a:t>Architecture hors-ligne d'abord et génération assistée des questionnaires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1" y="4343400"/>
            <a:ext cx="2011680" cy="3810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6634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4211C"/>
                </a:solidFill>
                <a:latin typeface="Calibri"/>
              </a:rPr>
              <a:t>ABDELLAH ELMIR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3625B"/>
                </a:solidFill>
                <a:latin typeface="Calibri"/>
              </a:rPr>
              <a:t>Élève ingénieur — Data Engineering &amp; Intelligence Artificielle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3625B"/>
                </a:solidFill>
                <a:latin typeface="Calibri"/>
              </a:rPr>
              <a:t>Soutenance de stage — septembre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6E4F"/>
                </a:solidFill>
                <a:latin typeface="Calibri"/>
              </a:rPr>
              <a:t>CONTEXTE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211C"/>
                </a:solidFill>
                <a:latin typeface="Calibri"/>
              </a:rPr>
              <a:t>Le problème à résoudre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88720"/>
            <a:ext cx="1371600" cy="3810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4211C"/>
                </a:solidFill>
                <a:latin typeface="Calibri"/>
              </a:rPr>
              <a:t>Les enquêteurs travaillent là où le réseau n'existe pas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25B"/>
                </a:solidFill>
                <a:latin typeface="Calibri"/>
              </a:rPr>
              <a:t>Zones rurales, montagne, régions enclavées. Une application qui exige Internet</a:t>
            </a:r>
            <a:br/>
            <a:r>
              <a:rPr sz="1500" b="0">
                <a:solidFill>
                  <a:srgbClr val="53625B"/>
                </a:solidFill>
                <a:latin typeface="Calibri"/>
              </a:rPr>
              <a:t>pour fonctionner y est inutilisable.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14211C"/>
                </a:solidFill>
                <a:latin typeface="Calibri"/>
              </a:rPr>
              <a:t>La collecte papier coûte cher en temps et en fiabilité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25B"/>
                </a:solidFill>
                <a:latin typeface="Calibri"/>
              </a:rPr>
              <a:t>Double saisie, erreurs de recopie, plusieurs semaines entre le terrain et la donnée</a:t>
            </a:r>
            <a:br/>
            <a:r>
              <a:rPr sz="1500" b="0">
                <a:solidFill>
                  <a:srgbClr val="53625B"/>
                </a:solidFill>
                <a:latin typeface="Calibri"/>
              </a:rPr>
              <a:t>exploitable.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14211C"/>
                </a:solidFill>
                <a:latin typeface="Calibri"/>
              </a:rPr>
              <a:t>Chaque enquête a une forme différente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25B"/>
                </a:solidFill>
                <a:latin typeface="Calibri"/>
              </a:rPr>
              <a:t>Développer une application par enquête est impossible à maintenir.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14211C"/>
                </a:solidFill>
                <a:latin typeface="Calibri"/>
              </a:rPr>
              <a:t>Préparer un questionnaire numérique est long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25B"/>
                </a:solidFill>
                <a:latin typeface="Calibri"/>
              </a:rPr>
              <a:t>Transcrire à la main un document Word de 100 questions en format structuré</a:t>
            </a:r>
            <a:br/>
            <a:r>
              <a:rPr sz="1500" b="0">
                <a:solidFill>
                  <a:srgbClr val="53625B"/>
                </a:solidFill>
                <a:latin typeface="Calibri"/>
              </a:rPr>
              <a:t>prend des heures et introduit des erreurs.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394960"/>
            <a:ext cx="10789920" cy="777240"/>
          </a:xfrm>
          <a:prstGeom prst="roundRect">
            <a:avLst/>
          </a:prstGeom>
          <a:solidFill>
            <a:srgbClr val="E8F2EE"/>
          </a:solidFill>
          <a:ln w="9525">
            <a:solidFill>
              <a:srgbClr val="E2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4211C"/>
                </a:solidFill>
                <a:latin typeface="Calibri"/>
              </a:rPr>
              <a:t>Objectif : une application utilisable une journée entière sans réseau, capable d'accueillir n'importe quelle enquête sans être reprogrammée.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5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6E4F"/>
                </a:solidFill>
                <a:latin typeface="Calibri"/>
              </a:rPr>
              <a:t>UTILISATEURS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211C"/>
                </a:solidFill>
                <a:latin typeface="Calibri"/>
              </a:rPr>
              <a:t>Deux profils, deux interfaces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88720"/>
            <a:ext cx="1371600" cy="3810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212080" cy="37490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6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B6E4F"/>
                </a:solidFill>
                <a:latin typeface="Calibri"/>
              </a:rPr>
              <a:t>L'ENQUÊTEUR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>
                <a:solidFill>
                  <a:srgbClr val="14211C"/>
                </a:solidFill>
                <a:latin typeface="Calibri"/>
              </a:rPr>
              <a:t>Application mobile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53625B"/>
                </a:solidFill>
                <a:latin typeface="Calibri"/>
              </a:rPr>
              <a:t>—  Télécharge les questionnaires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53625B"/>
                </a:solidFill>
                <a:latin typeface="Calibri"/>
              </a:rPr>
              <a:t>—  Interroge les ménages sur le terrain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53625B"/>
                </a:solidFill>
                <a:latin typeface="Calibri"/>
              </a:rPr>
              <a:t>—  Travaille sans connexion pendant des jours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53625B"/>
                </a:solidFill>
                <a:latin typeface="Calibri"/>
              </a:rPr>
              <a:t>—  Consulte l'aide de chaque question hors ligne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53625B"/>
                </a:solidFill>
                <a:latin typeface="Calibri"/>
              </a:rPr>
              <a:t>—  Change la langue : français ou arabe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53625B"/>
                </a:solidFill>
                <a:latin typeface="Calibri"/>
              </a:rPr>
              <a:t>—  Ses réponses remontent automatiquement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600200"/>
            <a:ext cx="5212080" cy="37490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6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B6E4F"/>
                </a:solidFill>
                <a:latin typeface="Calibri"/>
              </a:rPr>
              <a:t>L'ADMINISTRATEUR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>
                <a:solidFill>
                  <a:srgbClr val="14211C"/>
                </a:solidFill>
                <a:latin typeface="Calibri"/>
              </a:rPr>
              <a:t>Outil web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53625B"/>
                </a:solidFill>
                <a:latin typeface="Calibri"/>
              </a:rPr>
              <a:t>—  Importe un document Word ou texte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53625B"/>
                </a:solidFill>
                <a:latin typeface="Calibri"/>
              </a:rPr>
              <a:t>—  Fait convertir le document en questionnaire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53625B"/>
                </a:solidFill>
                <a:latin typeface="Calibri"/>
              </a:rPr>
              <a:t>—  Relit, corrige et publie l'enquête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53625B"/>
                </a:solidFill>
                <a:latin typeface="Calibri"/>
              </a:rPr>
              <a:t>—  Gère les comptes des enquêteurs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53625B"/>
                </a:solidFill>
                <a:latin typeface="Calibri"/>
              </a:rPr>
              <a:t>—  Suit la collecte sur un tableau de bord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53625B"/>
                </a:solidFill>
                <a:latin typeface="Calibri"/>
              </a:rPr>
              <a:t>—  Exporte les réponses pour analyse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532120"/>
            <a:ext cx="10789920" cy="640080"/>
          </a:xfrm>
          <a:prstGeom prst="roundRect">
            <a:avLst/>
          </a:prstGeom>
          <a:solidFill>
            <a:srgbClr val="E8F2EE"/>
          </a:solidFill>
          <a:ln w="9525">
            <a:solidFill>
              <a:srgbClr val="E2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4211C"/>
                </a:solidFill>
                <a:latin typeface="Calibri"/>
              </a:rPr>
              <a:t>Deux rôles seulement : enquêteur et administrateur. Une contrainte en base de données interdit toute autre valeur.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5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6E4F"/>
                </a:solidFill>
                <a:latin typeface="Calibri"/>
              </a:rPr>
              <a:t>MODÉLISATION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211C"/>
                </a:solidFill>
                <a:latin typeface="Calibri"/>
              </a:rPr>
              <a:t>Diagramme de cas d'utilisation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88720"/>
            <a:ext cx="1371600" cy="3810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secasehc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940" y="1371600"/>
            <a:ext cx="3952839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7373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4211C"/>
                </a:solidFill>
                <a:latin typeface="Calibri"/>
              </a:rPr>
              <a:t>Acteurs principaux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5B"/>
                </a:solidFill>
                <a:latin typeface="Calibri"/>
              </a:rPr>
              <a:t>L'enquêteur et l'administrateur : les personnes</a:t>
            </a:r>
            <a:br/>
            <a:r>
              <a:rPr sz="1200" b="0">
                <a:solidFill>
                  <a:srgbClr val="53625B"/>
                </a:solidFill>
                <a:latin typeface="Calibri"/>
              </a:rPr>
              <a:t>qui déclenchent les actions.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400" b="1">
                <a:solidFill>
                  <a:srgbClr val="14211C"/>
                </a:solidFill>
                <a:latin typeface="Calibri"/>
              </a:rPr>
              <a:t>Acteurs secondaires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5B"/>
                </a:solidFill>
                <a:latin typeface="Calibri"/>
              </a:rPr>
              <a:t>Le service d'IA et le serveur : des systèmes</a:t>
            </a:r>
            <a:br/>
            <a:r>
              <a:rPr sz="1200" b="0">
                <a:solidFill>
                  <a:srgbClr val="53625B"/>
                </a:solidFill>
                <a:latin typeface="Calibri"/>
              </a:rPr>
              <a:t>externes que l'application appelle.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400" b="1">
                <a:solidFill>
                  <a:srgbClr val="14211C"/>
                </a:solidFill>
                <a:latin typeface="Calibri"/>
              </a:rPr>
              <a:t>En jaune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5B"/>
                </a:solidFill>
                <a:latin typeface="Calibri"/>
              </a:rPr>
              <a:t>Tout ce qui fonctionne sans aucune connexion.</a:t>
            </a:r>
            <a:br/>
            <a:r>
              <a:rPr sz="1200" b="0">
                <a:solidFill>
                  <a:srgbClr val="53625B"/>
                </a:solidFill>
                <a:latin typeface="Calibri"/>
              </a:rPr>
              <a:t>C'est la majorité du travail de l'enquêteur.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5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6E4F"/>
                </a:solidFill>
                <a:latin typeface="Calibri"/>
              </a:rPr>
              <a:t>CHOIX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211C"/>
                </a:solidFill>
                <a:latin typeface="Calibri"/>
              </a:rPr>
              <a:t>Les technologies utilisées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88720"/>
            <a:ext cx="1371600" cy="3810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00200"/>
          <a:ext cx="1078992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62179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Composant</a:t>
                      </a:r>
                    </a:p>
                  </a:txBody>
                  <a:tcPr anchor="ctr">
                    <a:solidFill>
                      <a:srgbClr val="0B6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Technologie</a:t>
                      </a:r>
                    </a:p>
                  </a:txBody>
                  <a:tcPr anchor="ctr">
                    <a:solidFill>
                      <a:srgbClr val="0B6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Pourquoi ce choix</a:t>
                      </a:r>
                    </a:p>
                  </a:txBody>
                  <a:tcPr anchor="ctr">
                    <a:solidFill>
                      <a:srgbClr val="0B6E4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1C"/>
                          </a:solidFill>
                          <a:latin typeface="Calibri"/>
                        </a:rPr>
                        <a:t>Application mobile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3625B"/>
                          </a:solidFill>
                          <a:latin typeface="Calibri"/>
                        </a:rPr>
                        <a:t>Flutter / Dart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3625B"/>
                          </a:solidFill>
                          <a:latin typeface="Calibri"/>
                        </a:rPr>
                        <a:t>Un seul code source pour Android, iOS, Windows et le web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1C"/>
                          </a:solidFill>
                          <a:latin typeface="Calibri"/>
                        </a:rPr>
                        <a:t>Gestion d'état</a:t>
                      </a:r>
                    </a:p>
                  </a:txBody>
                  <a:tcPr anchor="ctr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3625B"/>
                          </a:solidFill>
                          <a:latin typeface="Calibri"/>
                        </a:rPr>
                        <a:t>Riverpod</a:t>
                      </a:r>
                    </a:p>
                  </a:txBody>
                  <a:tcPr anchor="ctr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3625B"/>
                          </a:solidFill>
                          <a:latin typeface="Calibri"/>
                        </a:rPr>
                        <a:t>Injection de dépendances et interface réactive sans code manuel</a:t>
                      </a:r>
                    </a:p>
                  </a:txBody>
                  <a:tcPr anchor="ctr">
                    <a:solidFill>
                      <a:srgbClr val="F7FA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1C"/>
                          </a:solidFill>
                          <a:latin typeface="Calibri"/>
                        </a:rPr>
                        <a:t>Base locale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3625B"/>
                          </a:solidFill>
                          <a:latin typeface="Calibri"/>
                        </a:rPr>
                        <a:t>SQLite via Drift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3625B"/>
                          </a:solidFill>
                          <a:latin typeface="Calibri"/>
                        </a:rPr>
                        <a:t>Requêtes vérifiées à la compilation, résultats réactifs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1C"/>
                          </a:solidFill>
                          <a:latin typeface="Calibri"/>
                        </a:rPr>
                        <a:t>Communication</a:t>
                      </a:r>
                    </a:p>
                  </a:txBody>
                  <a:tcPr anchor="ctr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3625B"/>
                          </a:solidFill>
                          <a:latin typeface="Calibri"/>
                        </a:rPr>
                        <a:t>API REST + JSON</a:t>
                      </a:r>
                    </a:p>
                  </a:txBody>
                  <a:tcPr anchor="ctr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3625B"/>
                          </a:solidFill>
                          <a:latin typeface="Calibri"/>
                        </a:rPr>
                        <a:t>Standard, simple à déboguer, indépendant du client</a:t>
                      </a:r>
                    </a:p>
                  </a:txBody>
                  <a:tcPr anchor="ctr">
                    <a:solidFill>
                      <a:srgbClr val="F7FA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1C"/>
                          </a:solidFill>
                          <a:latin typeface="Calibri"/>
                        </a:rPr>
                        <a:t>Serveur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3625B"/>
                          </a:solidFill>
                          <a:latin typeface="Calibri"/>
                        </a:rPr>
                        <a:t>Node.js / Express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3625B"/>
                          </a:solidFill>
                          <a:latin typeface="Calibri"/>
                        </a:rPr>
                        <a:t>Léger, adapté à une API de données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1C"/>
                          </a:solidFill>
                          <a:latin typeface="Calibri"/>
                        </a:rPr>
                        <a:t>Base centrale</a:t>
                      </a:r>
                    </a:p>
                  </a:txBody>
                  <a:tcPr anchor="ctr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3625B"/>
                          </a:solidFill>
                          <a:latin typeface="Calibri"/>
                        </a:rPr>
                        <a:t>PostgreSQL</a:t>
                      </a:r>
                    </a:p>
                  </a:txBody>
                  <a:tcPr anchor="ctr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3625B"/>
                          </a:solidFill>
                          <a:latin typeface="Calibri"/>
                        </a:rPr>
                        <a:t>Colonnes JSONB : accueille n'importe quelle forme d'enquête</a:t>
                      </a:r>
                    </a:p>
                  </a:txBody>
                  <a:tcPr anchor="ctr">
                    <a:solidFill>
                      <a:srgbClr val="F7FA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1C"/>
                          </a:solidFill>
                          <a:latin typeface="Calibri"/>
                        </a:rPr>
                        <a:t>Conversion 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3625B"/>
                          </a:solidFill>
                          <a:latin typeface="Calibri"/>
                        </a:rPr>
                        <a:t>Google Gemini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3625B"/>
                          </a:solidFill>
                          <a:latin typeface="Calibri"/>
                        </a:rPr>
                        <a:t>Sortie structurée imposée par un schéma JSON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1C"/>
                          </a:solidFill>
                          <a:latin typeface="Calibri"/>
                        </a:rPr>
                        <a:t>Lecture des .docx</a:t>
                      </a:r>
                    </a:p>
                  </a:txBody>
                  <a:tcPr anchor="ctr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3625B"/>
                          </a:solidFill>
                          <a:latin typeface="Calibri"/>
                        </a:rPr>
                        <a:t>mammoth</a:t>
                      </a:r>
                    </a:p>
                  </a:txBody>
                  <a:tcPr anchor="ctr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3625B"/>
                          </a:solidFill>
                          <a:latin typeface="Calibri"/>
                        </a:rPr>
                        <a:t>Extraction déterministe du texte et de la structure</a:t>
                      </a:r>
                    </a:p>
                  </a:txBody>
                  <a:tcPr anchor="ctr"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5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6E4F"/>
                </a:solidFill>
                <a:latin typeface="Calibri"/>
              </a:rPr>
              <a:t>PRINCIPE FONDATEUR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211C"/>
                </a:solidFill>
                <a:latin typeface="Calibri"/>
              </a:rPr>
              <a:t>L'architecture hors-ligne d'abord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88720"/>
            <a:ext cx="1371600" cy="3810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4211C"/>
                </a:solidFill>
                <a:latin typeface="Calibri"/>
              </a:rPr>
              <a:t>La base locale est la source de vérité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25B"/>
                </a:solidFill>
                <a:latin typeface="Calibri"/>
              </a:rPr>
              <a:t>Aucun écran de l'application n'appelle le réseau. Les écrans lisent SQLite,</a:t>
            </a:r>
            <a:br/>
            <a:r>
              <a:rPr sz="1500" b="0">
                <a:solidFill>
                  <a:srgbClr val="53625B"/>
                </a:solidFill>
                <a:latin typeface="Calibri"/>
              </a:rPr>
              <a:t>et SQLite seul. Le réseau ne fait que remplir cette base ou la vider.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14211C"/>
                </a:solidFill>
                <a:latin typeface="Calibri"/>
              </a:rPr>
              <a:t>Conséquence directe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25B"/>
                </a:solidFill>
                <a:latin typeface="Calibri"/>
              </a:rPr>
              <a:t>L'application se comporte exactement de la même façon avec ou sans connexion.</a:t>
            </a:r>
            <a:br/>
            <a:r>
              <a:rPr sz="1500" b="0">
                <a:solidFill>
                  <a:srgbClr val="53625B"/>
                </a:solidFill>
                <a:latin typeface="Calibri"/>
              </a:rPr>
              <a:t>Il n'y a pas de code conditionnel « si en ligne » dans les écrans.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14211C"/>
                </a:solidFill>
                <a:latin typeface="Calibri"/>
              </a:rPr>
              <a:t>Le questionnaire n'est pas programmé, il est décrit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25B"/>
                </a:solidFill>
                <a:latin typeface="Calibri"/>
              </a:rPr>
              <a:t>Une enquête est un fichier JSON stocké tel quel. Publier une nouvelle enquête</a:t>
            </a:r>
            <a:br/>
            <a:r>
              <a:rPr sz="1500" b="0">
                <a:solidFill>
                  <a:srgbClr val="53625B"/>
                </a:solidFill>
                <a:latin typeface="Calibri"/>
              </a:rPr>
              <a:t>ne demande ni migration de base, ni recompilation de l'application.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120640"/>
            <a:ext cx="10789920" cy="777240"/>
          </a:xfrm>
          <a:prstGeom prst="roundRect">
            <a:avLst/>
          </a:prstGeom>
          <a:solidFill>
            <a:srgbClr val="E8F2EE"/>
          </a:solidFill>
          <a:ln w="9525">
            <a:solidFill>
              <a:srgbClr val="E2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4211C"/>
                </a:solidFill>
                <a:latin typeface="Calibri"/>
              </a:rPr>
              <a:t>Un questionnaire de 100 questions d'une forme totalement nouvelle peut être mis en service sans modifier une seule ligne de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5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6E4F"/>
                </a:solidFill>
                <a:latin typeface="Calibri"/>
              </a:rPr>
              <a:t>SYNCHRONISATION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211C"/>
                </a:solidFill>
                <a:latin typeface="Calibri"/>
              </a:rPr>
              <a:t>Le parcours d'une réponse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88720"/>
            <a:ext cx="1371600" cy="3810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ynchc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102" y="1325880"/>
            <a:ext cx="7024035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73736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4211C"/>
                </a:solidFill>
                <a:latin typeface="Calibri"/>
              </a:rPr>
              <a:t>Hors ligne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3625B"/>
                </a:solidFill>
                <a:latin typeface="Calibri"/>
              </a:rPr>
              <a:t>La réponse est enregistrée à chaque saisie</a:t>
            </a:r>
            <a:br/>
            <a:r>
              <a:rPr sz="1100" b="0">
                <a:solidFill>
                  <a:srgbClr val="53625B"/>
                </a:solidFill>
                <a:latin typeface="Calibri"/>
              </a:rPr>
              <a:t>dans SQLite. Rien ne part sur le réseau.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300" b="1">
                <a:solidFill>
                  <a:srgbClr val="14211C"/>
                </a:solidFill>
                <a:latin typeface="Calibri"/>
              </a:rPr>
              <a:t>À la validation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3625B"/>
                </a:solidFill>
                <a:latin typeface="Calibri"/>
              </a:rPr>
              <a:t>Le statut passe de « brouillon » à</a:t>
            </a:r>
            <a:br/>
            <a:r>
              <a:rPr sz="1100" b="0">
                <a:solidFill>
                  <a:srgbClr val="53625B"/>
                </a:solidFill>
                <a:latin typeface="Calibri"/>
              </a:rPr>
              <a:t>« en attente d'envoi ».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300" b="1">
                <a:solidFill>
                  <a:srgbClr val="14211C"/>
                </a:solidFill>
                <a:latin typeface="Calibri"/>
              </a:rPr>
              <a:t>Au retour du réseau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3625B"/>
                </a:solidFill>
                <a:latin typeface="Calibri"/>
              </a:rPr>
              <a:t>Le moteur envoie automatiquement</a:t>
            </a:r>
            <a:br/>
            <a:r>
              <a:rPr sz="1100" b="0">
                <a:solidFill>
                  <a:srgbClr val="53625B"/>
                </a:solidFill>
                <a:latin typeface="Calibri"/>
              </a:rPr>
              <a:t>tout ce qui est en attente.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300" b="1">
                <a:solidFill>
                  <a:srgbClr val="14211C"/>
                </a:solidFill>
                <a:latin typeface="Calibri"/>
              </a:rPr>
              <a:t>Si l'envoi échoue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3625B"/>
                </a:solidFill>
                <a:latin typeface="Calibri"/>
              </a:rPr>
              <a:t>Nouvelle tentative, jusqu'à cinq essais.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5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6E4F"/>
                </a:solidFill>
                <a:latin typeface="Calibri"/>
              </a:rPr>
              <a:t>POINT TECHNIQUE CLÉ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211C"/>
                </a:solidFill>
                <a:latin typeface="Calibri"/>
              </a:rPr>
              <a:t>Aucun doublon, même si le réseau coupe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88720"/>
            <a:ext cx="1371600" cy="3810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4211C"/>
                </a:solidFill>
                <a:latin typeface="Calibri"/>
              </a:rPr>
              <a:t>L'identifiant est généré sur le téléphone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25B"/>
                </a:solidFill>
                <a:latin typeface="Calibri"/>
              </a:rPr>
              <a:t>Chaque réponse reçoit un UUID au moment de sa création, hors ligne, avant même</a:t>
            </a:r>
            <a:br/>
            <a:r>
              <a:rPr sz="1500" b="0">
                <a:solidFill>
                  <a:srgbClr val="53625B"/>
                </a:solidFill>
                <a:latin typeface="Calibri"/>
              </a:rPr>
              <a:t>d'avoir vu le serveur. Cet identifiant est la clé primaire côté serveur.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14211C"/>
                </a:solidFill>
                <a:latin typeface="Calibri"/>
              </a:rPr>
              <a:t>Le serveur fait un INSERT ... ON CONFLICT DO UPDATE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25B"/>
                </a:solidFill>
                <a:latin typeface="Calibri"/>
              </a:rPr>
              <a:t>Réenvoyer la même réponse met à jour la ligne existante au lieu d'en créer une</a:t>
            </a:r>
            <a:br/>
            <a:r>
              <a:rPr sz="1500" b="0">
                <a:solidFill>
                  <a:srgbClr val="53625B"/>
                </a:solidFill>
                <a:latin typeface="Calibri"/>
              </a:rPr>
              <a:t>seconde. L'opération est idempotente.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14211C"/>
                </a:solidFill>
                <a:latin typeface="Calibri"/>
              </a:rPr>
              <a:t>Sans cela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25B"/>
                </a:solidFill>
                <a:latin typeface="Calibri"/>
              </a:rPr>
              <a:t>Si la connexion coupe pendant l'envoi, l'enquêteur réessaie et la réponse serait</a:t>
            </a:r>
            <a:br/>
            <a:r>
              <a:rPr sz="1500" b="0">
                <a:solidFill>
                  <a:srgbClr val="53625B"/>
                </a:solidFill>
                <a:latin typeface="Calibri"/>
              </a:rPr>
              <a:t>comptée deux fois dans les statistiques nationales.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212080"/>
            <a:ext cx="10789920" cy="731520"/>
          </a:xfrm>
          <a:prstGeom prst="roundRect">
            <a:avLst/>
          </a:prstGeom>
          <a:solidFill>
            <a:srgbClr val="E8F2EE"/>
          </a:solidFill>
          <a:ln w="9525">
            <a:solidFill>
              <a:srgbClr val="E2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4211C"/>
                </a:solidFill>
                <a:latin typeface="Calibri"/>
              </a:rPr>
              <a:t>Vérifié : trois réponses envoyées, puis une réenvoyée à l'identique. La base en contient toujours trois.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5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6E4F"/>
                </a:solidFill>
                <a:latin typeface="Calibri"/>
              </a:rPr>
              <a:t>QUESTIONNAIRES DYNAMIQUES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211C"/>
                </a:solidFill>
                <a:latin typeface="Calibri"/>
              </a:rPr>
              <a:t>Un questionnaire est une donnée, pas du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88720"/>
            <a:ext cx="1371600" cy="3810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0B6E4F"/>
                </a:solidFill>
                <a:latin typeface="Calibri"/>
              </a:rPr>
              <a:t>Description JSON d'une question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4211C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4211C"/>
                </a:solidFill>
                <a:latin typeface="Consolas"/>
              </a:rPr>
              <a:t>  "id": "q_monthly_income",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4211C"/>
                </a:solidFill>
                <a:latin typeface="Consolas"/>
              </a:rPr>
              <a:t>  "type": "number",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4211C"/>
                </a:solidFill>
                <a:latin typeface="Consolas"/>
              </a:rPr>
              <a:t>  "label": { "fr": "Revenu mensuel",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4211C"/>
                </a:solidFill>
                <a:latin typeface="Consolas"/>
              </a:rPr>
              <a:t>             "ar": "الدخل الشهري" },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4211C"/>
                </a:solidFill>
                <a:latin typeface="Consolas"/>
              </a:rPr>
              <a:t>  "required": true,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4211C"/>
                </a:solidFill>
                <a:latin typeface="Consolas"/>
              </a:rPr>
              <a:t>  "validation": { "min": 0 },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4211C"/>
                </a:solidFill>
                <a:latin typeface="Consolas"/>
              </a:rPr>
              <a:t>  "visible_when":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4211C"/>
                </a:solidFill>
                <a:latin typeface="Consolas"/>
              </a:rPr>
              <a:t>     "question": "q_has_income",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4211C"/>
                </a:solidFill>
                <a:latin typeface="Consolas"/>
              </a:rPr>
              <a:t>     "equals": "yes"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4211C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4211C"/>
                </a:solidFill>
                <a:latin typeface="Calibri"/>
              </a:rPr>
              <a:t>L'application lit cette description et construit l'écran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5B"/>
                </a:solidFill>
                <a:latin typeface="Calibri"/>
              </a:rPr>
              <a:t>Une seule fonction décide quel widget afficher selon le type.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400" b="1">
                <a:solidFill>
                  <a:srgbClr val="14211C"/>
                </a:solidFill>
                <a:latin typeface="Calibri"/>
              </a:rPr>
              <a:t>Six types réellement affichés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5B"/>
                </a:solidFill>
                <a:latin typeface="Calibri"/>
              </a:rPr>
              <a:t>Texte, nombre, date, choix unique, liste déroulante, choix multiples.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400" b="1">
                <a:solidFill>
                  <a:srgbClr val="14211C"/>
                </a:solidFill>
                <a:latin typeface="Calibri"/>
              </a:rPr>
              <a:t>Affichage conditionnel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5B"/>
                </a:solidFill>
                <a:latin typeface="Calibri"/>
              </a:rPr>
              <a:t>Une question peut n'apparaître que selon une réponse précédente,</a:t>
            </a:r>
            <a:br/>
            <a:r>
              <a:rPr sz="1200" b="0">
                <a:solidFill>
                  <a:srgbClr val="53625B"/>
                </a:solidFill>
                <a:latin typeface="Calibri"/>
              </a:rPr>
              <a:t>et n'est alors jamais exigée.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400" b="1">
                <a:solidFill>
                  <a:srgbClr val="14211C"/>
                </a:solidFill>
                <a:latin typeface="Calibri"/>
              </a:rPr>
              <a:t>Bilingue par construction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5B"/>
                </a:solidFill>
                <a:latin typeface="Calibri"/>
              </a:rPr>
              <a:t>Chaque libellé porte sa version française et arabe.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5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6E4F"/>
                </a:solidFill>
                <a:latin typeface="Calibri"/>
              </a:rPr>
              <a:t>GÉNÉRATION ASSISTÉE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211C"/>
                </a:solidFill>
                <a:latin typeface="Calibri"/>
              </a:rPr>
              <a:t>Du document Word au questionnaire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88720"/>
            <a:ext cx="1371600" cy="3810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eneratesurv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328" y="1325880"/>
            <a:ext cx="3290864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12080" y="1600200"/>
            <a:ext cx="6309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4211C"/>
                </a:solidFill>
                <a:latin typeface="Calibri"/>
              </a:rPr>
              <a:t>1 · Extraction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5B"/>
                </a:solidFill>
                <a:latin typeface="Calibri"/>
              </a:rPr>
              <a:t>La bibliothèque mammoth lit le .docx. Aucune IA à ce stade.</a:t>
            </a:r>
            <a:br/>
            <a:r>
              <a:rPr sz="1200" b="0">
                <a:solidFill>
                  <a:srgbClr val="53625B"/>
                </a:solidFill>
                <a:latin typeface="Calibri"/>
              </a:rPr>
              <a:t>La structure du document sert à écarter les titres de section.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400" b="1">
                <a:solidFill>
                  <a:srgbClr val="14211C"/>
                </a:solidFill>
                <a:latin typeface="Calibri"/>
              </a:rPr>
              <a:t>2 · Découpage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5B"/>
                </a:solidFill>
                <a:latin typeface="Calibri"/>
              </a:rPr>
              <a:t>Le document est traité par lots de 25 questions.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400" b="1">
                <a:solidFill>
                  <a:srgbClr val="14211C"/>
                </a:solidFill>
                <a:latin typeface="Calibri"/>
              </a:rPr>
              <a:t>3 · Conversion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5B"/>
                </a:solidFill>
                <a:latin typeface="Calibri"/>
              </a:rPr>
              <a:t>Le modèle reçoit une liste numérotée et doit rendre</a:t>
            </a:r>
            <a:br/>
            <a:r>
              <a:rPr sz="1200" b="0">
                <a:solidFill>
                  <a:srgbClr val="53625B"/>
                </a:solidFill>
                <a:latin typeface="Calibri"/>
              </a:rPr>
              <a:t>exactement le même nombre de questions.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400" b="1">
                <a:solidFill>
                  <a:srgbClr val="14211C"/>
                </a:solidFill>
                <a:latin typeface="Calibri"/>
              </a:rPr>
              <a:t>4 · Validation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5B"/>
                </a:solidFill>
                <a:latin typeface="Calibri"/>
              </a:rPr>
              <a:t>Le résultat est vérifié et réparé si nécessaire.</a:t>
            </a:r>
            <a:br/>
            <a:r>
              <a:rPr sz="1200" b="0">
                <a:solidFill>
                  <a:srgbClr val="53625B"/>
                </a:solidFill>
                <a:latin typeface="Calibri"/>
              </a:rPr>
              <a:t>Chaque correction est affichée à l'administrateur.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400" b="1">
                <a:solidFill>
                  <a:srgbClr val="14211C"/>
                </a:solidFill>
                <a:latin typeface="Calibri"/>
              </a:rPr>
              <a:t>5 · Relecture humaine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5B"/>
                </a:solidFill>
                <a:latin typeface="Calibri"/>
              </a:rPr>
              <a:t>Rien n'est enregistré avant que l'administrateur</a:t>
            </a:r>
            <a:br/>
            <a:r>
              <a:rPr sz="1200" b="0">
                <a:solidFill>
                  <a:srgbClr val="53625B"/>
                </a:solidFill>
                <a:latin typeface="Calibri"/>
              </a:rPr>
              <a:t>ait relu et validé l'aperçu.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5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6E4F"/>
                </a:solidFill>
                <a:latin typeface="Calibri"/>
              </a:rPr>
              <a:t>FIABILITÉ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211C"/>
                </a:solidFill>
                <a:latin typeface="Calibri"/>
              </a:rPr>
              <a:t>Comment garantir que l'IA ne se trompe pas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88720"/>
            <a:ext cx="1371600" cy="3810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4211C"/>
                </a:solidFill>
                <a:latin typeface="Calibri"/>
              </a:rPr>
              <a:t>Le modèle ne peut pas répondre en texte libre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3625B"/>
                </a:solidFill>
                <a:latin typeface="Calibri"/>
              </a:rPr>
              <a:t>Un schéma JSON lui est imposé par l'API. La forme de la réponse est contrainte</a:t>
            </a:r>
            <a:br/>
            <a:r>
              <a:rPr sz="1400" b="0">
                <a:solidFill>
                  <a:srgbClr val="53625B"/>
                </a:solidFill>
                <a:latin typeface="Calibri"/>
              </a:rPr>
              <a:t>structurellement, pas seulement demandée.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14211C"/>
                </a:solidFill>
                <a:latin typeface="Calibri"/>
              </a:rPr>
              <a:t>Le prompt encadre strictement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3625B"/>
                </a:solidFill>
                <a:latin typeface="Calibri"/>
              </a:rPr>
              <a:t>« Tu es un convertisseur strict, tu n'es pas un assistant. » Interdiction de fusionner,</a:t>
            </a:r>
            <a:br/>
            <a:r>
              <a:rPr sz="1400" b="0">
                <a:solidFill>
                  <a:srgbClr val="53625B"/>
                </a:solidFill>
                <a:latin typeface="Calibri"/>
              </a:rPr>
              <a:t>de supprimer ou d'inventer une question.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14211C"/>
                </a:solidFill>
                <a:latin typeface="Calibri"/>
              </a:rPr>
              <a:t>Le nombre de questions est vérifié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3625B"/>
                </a:solidFill>
                <a:latin typeface="Calibri"/>
              </a:rPr>
              <a:t>Si un lot de 25 questions en rend 24, le lot est refait.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14211C"/>
                </a:solidFill>
                <a:latin typeface="Calibri"/>
              </a:rPr>
              <a:t>Le résultat est réparé et le rapport affiché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3625B"/>
                </a:solidFill>
                <a:latin typeface="Calibri"/>
              </a:rPr>
              <a:t>Type inconnu ramené à du texte, options dupliquées supprimées. Chaque réparation</a:t>
            </a:r>
            <a:br/>
            <a:r>
              <a:rPr sz="1400" b="0">
                <a:solidFill>
                  <a:srgbClr val="53625B"/>
                </a:solidFill>
                <a:latin typeface="Calibri"/>
              </a:rPr>
              <a:t>est signalée, jamais silencieuse.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257800"/>
            <a:ext cx="10789920" cy="1005840"/>
          </a:xfrm>
          <a:prstGeom prst="roundRect">
            <a:avLst/>
          </a:prstGeom>
          <a:solidFill>
            <a:srgbClr val="FBF0DC"/>
          </a:solidFill>
          <a:ln w="9525">
            <a:solidFill>
              <a:srgbClr val="E2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5B08"/>
                </a:solidFill>
                <a:latin typeface="Calibri"/>
              </a:rPr>
              <a:t>Problème réel rencontré : sur un document de 100 questions répétitives, le modèle n'en avait rendu que 10 en les fusionnant, avec un JSON parfaitement valide. C'est ce qui a imposé la liste numérotée et la vérification du nombre. Après correction : 100 questions sur 100, et 150 sur 150.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5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6E4F"/>
                </a:solidFill>
                <a:latin typeface="Calibri"/>
              </a:rPr>
              <a:t>ÉVALUATION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211C"/>
                </a:solidFill>
                <a:latin typeface="Calibri"/>
              </a:rPr>
              <a:t>Résultats mesurés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88720"/>
            <a:ext cx="1371600" cy="3810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25B"/>
                </a:solidFill>
                <a:latin typeface="Calibri"/>
              </a:rPr>
              <a:t>Un harnais d'évaluation compare la sortie générée à des réponses correctes écrites à la main, et attribue une note sur 10.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03120"/>
            <a:ext cx="1981139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B6E4F"/>
                </a:solidFill>
                <a:latin typeface="Calibri"/>
              </a:rPr>
              <a:t>9,8 / 10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5B"/>
                </a:solidFill>
                <a:latin typeface="Calibri"/>
              </a:rPr>
              <a:t>avec le modèle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5539" y="2103120"/>
            <a:ext cx="1981139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B6E4F"/>
                </a:solidFill>
                <a:latin typeface="Calibri"/>
              </a:rPr>
              <a:t>7,5 / 10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5B"/>
                </a:solidFill>
                <a:latin typeface="Calibri"/>
              </a:rPr>
              <a:t>règles seules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05278" y="2103120"/>
            <a:ext cx="1981139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B6E4F"/>
                </a:solidFill>
                <a:latin typeface="Calibri"/>
              </a:rPr>
              <a:t>5 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5B"/>
                </a:solidFill>
                <a:latin typeface="Calibri"/>
              </a:rPr>
              <a:t>pour 10 questions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017" y="2103120"/>
            <a:ext cx="1981139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B6E4F"/>
                </a:solidFill>
                <a:latin typeface="Calibri"/>
              </a:rPr>
              <a:t>73 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5B"/>
                </a:solidFill>
                <a:latin typeface="Calibri"/>
              </a:rPr>
              <a:t>pour 150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24756" y="2103120"/>
            <a:ext cx="1981139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B6E4F"/>
                </a:solidFill>
                <a:latin typeface="Calibri"/>
              </a:rPr>
              <a:t>52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5B"/>
                </a:solidFill>
                <a:latin typeface="Calibri"/>
              </a:rPr>
              <a:t>tests automatisés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3611880"/>
          <a:ext cx="107899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463040"/>
                <a:gridCol w="640080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Critère évalué</a:t>
                      </a:r>
                    </a:p>
                  </a:txBody>
                  <a:tcPr anchor="ctr">
                    <a:solidFill>
                      <a:srgbClr val="0B6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Poids</a:t>
                      </a:r>
                    </a:p>
                  </a:txBody>
                  <a:tcPr anchor="ctr">
                    <a:solidFill>
                      <a:srgbClr val="0B6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Ce qui est vérifié</a:t>
                      </a:r>
                    </a:p>
                  </a:txBody>
                  <a:tcPr anchor="ctr">
                    <a:solidFill>
                      <a:srgbClr val="0B6E4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1C"/>
                          </a:solidFill>
                          <a:latin typeface="Calibri"/>
                        </a:rPr>
                        <a:t>Extraction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3625B"/>
                          </a:solidFill>
                          <a:latin typeface="Calibri"/>
                        </a:rPr>
                        <a:t>3 points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3625B"/>
                          </a:solidFill>
                          <a:latin typeface="Calibri"/>
                        </a:rPr>
                        <a:t>Les vraies questions, sans les titres de section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1C"/>
                          </a:solidFill>
                          <a:latin typeface="Calibri"/>
                        </a:rPr>
                        <a:t>Type de question</a:t>
                      </a:r>
                    </a:p>
                  </a:txBody>
                  <a:tcPr anchor="ctr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3625B"/>
                          </a:solidFill>
                          <a:latin typeface="Calibri"/>
                        </a:rPr>
                        <a:t>3 points</a:t>
                      </a:r>
                    </a:p>
                  </a:txBody>
                  <a:tcPr anchor="ctr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3625B"/>
                          </a:solidFill>
                          <a:latin typeface="Calibri"/>
                        </a:rPr>
                        <a:t>Choix unique, multiple, nombre, date, texte</a:t>
                      </a:r>
                    </a:p>
                  </a:txBody>
                  <a:tcPr anchor="ctr">
                    <a:solidFill>
                      <a:srgbClr val="F7FA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1C"/>
                          </a:solidFill>
                          <a:latin typeface="Calibri"/>
                        </a:rPr>
                        <a:t>Options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3625B"/>
                          </a:solidFill>
                          <a:latin typeface="Calibri"/>
                        </a:rPr>
                        <a:t>2 points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3625B"/>
                          </a:solidFill>
                          <a:latin typeface="Calibri"/>
                        </a:rPr>
                        <a:t>Les modalités sont présentes et pertinentes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1C"/>
                          </a:solidFill>
                          <a:latin typeface="Calibri"/>
                        </a:rPr>
                        <a:t>Obligatoire</a:t>
                      </a:r>
                    </a:p>
                  </a:txBody>
                  <a:tcPr anchor="ctr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3625B"/>
                          </a:solidFill>
                          <a:latin typeface="Calibri"/>
                        </a:rPr>
                        <a:t>1 point</a:t>
                      </a:r>
                    </a:p>
                  </a:txBody>
                  <a:tcPr anchor="ctr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3625B"/>
                          </a:solidFill>
                          <a:latin typeface="Calibri"/>
                        </a:rPr>
                        <a:t>« facultatif » est respecté</a:t>
                      </a:r>
                    </a:p>
                  </a:txBody>
                  <a:tcPr anchor="ctr">
                    <a:solidFill>
                      <a:srgbClr val="F7FA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1C"/>
                          </a:solidFill>
                          <a:latin typeface="Calibri"/>
                        </a:rPr>
                        <a:t>Bilingue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3625B"/>
                          </a:solidFill>
                          <a:latin typeface="Calibri"/>
                        </a:rPr>
                        <a:t>1 point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3625B"/>
                          </a:solidFill>
                          <a:latin typeface="Calibri"/>
                        </a:rPr>
                        <a:t>Libellé et aide en français et en arabe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5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6E4F"/>
                </a:solidFill>
                <a:latin typeface="Calibri"/>
              </a:rPr>
              <a:t>EXPLOITATION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211C"/>
                </a:solidFill>
                <a:latin typeface="Calibri"/>
              </a:rPr>
              <a:t>Récupérer et suivre les données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88720"/>
            <a:ext cx="1371600" cy="3810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4211C"/>
                </a:solidFill>
                <a:latin typeface="Calibri"/>
              </a:rPr>
              <a:t>Export CSV par enquête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3625B"/>
                </a:solidFill>
                <a:latin typeface="Calibri"/>
              </a:rPr>
              <a:t>Une ligne par réponse, une colonne par question. Les codes internes sont</a:t>
            </a:r>
            <a:br/>
            <a:r>
              <a:rPr sz="1400" b="0">
                <a:solidFill>
                  <a:srgbClr val="53625B"/>
                </a:solidFill>
                <a:latin typeface="Calibri"/>
              </a:rPr>
              <a:t>retraduits en libellés lisibles.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14211C"/>
                </a:solidFill>
                <a:latin typeface="Calibri"/>
              </a:rPr>
              <a:t>Traçabilité complète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3625B"/>
                </a:solidFill>
                <a:latin typeface="Calibri"/>
              </a:rPr>
              <a:t>Chaque ligne porte le matricule de l'enquêteur, sa région, et les deux dates :</a:t>
            </a:r>
            <a:br/>
            <a:r>
              <a:rPr sz="1400" b="0">
                <a:solidFill>
                  <a:srgbClr val="53625B"/>
                </a:solidFill>
                <a:latin typeface="Calibri"/>
              </a:rPr>
              <a:t>remplissage et synchronisation.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14211C"/>
                </a:solidFill>
                <a:latin typeface="Calibri"/>
              </a:rPr>
              <a:t>Ouverture directe dans Excel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3625B"/>
                </a:solidFill>
                <a:latin typeface="Calibri"/>
              </a:rPr>
              <a:t>Encodage UTF-8 avec BOM et séparateur point-virgule, sans quoi Excel dégrade</a:t>
            </a:r>
            <a:br/>
            <a:r>
              <a:rPr sz="1400" b="0">
                <a:solidFill>
                  <a:srgbClr val="53625B"/>
                </a:solidFill>
                <a:latin typeface="Calibri"/>
              </a:rPr>
              <a:t>les accents et l'arabe. Une variante virgule existe pour R, Python ou SPSS.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14211C"/>
                </a:solidFill>
                <a:latin typeface="Calibri"/>
              </a:rPr>
              <a:t>Export également disponible en arabe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3625B"/>
                </a:solidFill>
                <a:latin typeface="Calibri"/>
              </a:rPr>
              <a:t>Les en-têtes et les modalités sortent en arabe sur demande.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14211C"/>
                </a:solidFill>
                <a:latin typeface="Calibri"/>
              </a:rPr>
              <a:t>Tableau de bord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3625B"/>
                </a:solidFill>
                <a:latin typeface="Calibri"/>
              </a:rPr>
              <a:t>Réponses collectées, enquêtes actives, activité par jour, par enquêteur</a:t>
            </a:r>
            <a:br/>
            <a:r>
              <a:rPr sz="1400" b="0">
                <a:solidFill>
                  <a:srgbClr val="53625B"/>
                </a:solidFill>
                <a:latin typeface="Calibri"/>
              </a:rPr>
              <a:t>et par région.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5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6E4F"/>
                </a:solidFill>
                <a:latin typeface="Calibri"/>
              </a:rPr>
              <a:t>VÉRIFICATION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211C"/>
                </a:solidFill>
                <a:latin typeface="Calibri"/>
              </a:rPr>
              <a:t>Tests et qualité du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88720"/>
            <a:ext cx="1371600" cy="3810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253357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B6E4F"/>
                </a:solidFill>
                <a:latin typeface="Calibri"/>
              </a:rPr>
              <a:t>31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5B"/>
                </a:solidFill>
                <a:latin typeface="Calibri"/>
              </a:rPr>
              <a:t>tests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47973" y="1600200"/>
            <a:ext cx="253357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B6E4F"/>
                </a:solidFill>
                <a:latin typeface="Calibri"/>
              </a:rPr>
              <a:t>21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5B"/>
                </a:solidFill>
                <a:latin typeface="Calibri"/>
              </a:rPr>
              <a:t>tests serveur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6" y="1600200"/>
            <a:ext cx="253357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B6E4F"/>
                </a:solidFill>
                <a:latin typeface="Calibri"/>
              </a:rPr>
              <a:t>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5B"/>
                </a:solidFill>
                <a:latin typeface="Calibri"/>
              </a:rPr>
              <a:t>scénario bout en bout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72319" y="1600200"/>
            <a:ext cx="253357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B6E4F"/>
                </a:solidFill>
                <a:latin typeface="Calibri"/>
              </a:rPr>
              <a:t>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5B"/>
                </a:solidFill>
                <a:latin typeface="Calibri"/>
              </a:rPr>
              <a:t>erreur d'analyse statique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10789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4211C"/>
                </a:solidFill>
                <a:latin typeface="Calibri"/>
              </a:rPr>
              <a:t>Ce que les tests couvrent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3625B"/>
                </a:solidFill>
                <a:latin typeface="Calibri"/>
              </a:rPr>
              <a:t>La lecture des questionnaires, le moteur de synchronisation et ses trois scénarios,</a:t>
            </a:r>
            <a:br/>
            <a:r>
              <a:rPr sz="1400" b="0">
                <a:solidFill>
                  <a:srgbClr val="53625B"/>
                </a:solidFill>
                <a:latin typeface="Calibri"/>
              </a:rPr>
              <a:t>l'échappement du fichier d'export, et la validation de la sortie du modèle.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14211C"/>
                </a:solidFill>
                <a:latin typeface="Calibri"/>
              </a:rPr>
              <a:t>Trois tests de non-régression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3625B"/>
                </a:solidFill>
                <a:latin typeface="Calibri"/>
              </a:rPr>
              <a:t>Écrits après avoir trouvé de vrais défauts, pour empêcher leur retour.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14211C"/>
                </a:solidFill>
                <a:latin typeface="Calibri"/>
              </a:rPr>
              <a:t>Un scénario complet rejouable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3625B"/>
                </a:solidFill>
                <a:latin typeface="Calibri"/>
              </a:rPr>
              <a:t>Une commande rejoue tout le parcours : conversion, publication, travail hors ligne,</a:t>
            </a:r>
            <a:br/>
            <a:r>
              <a:rPr sz="1400" b="0">
                <a:solidFill>
                  <a:srgbClr val="53625B"/>
                </a:solidFill>
                <a:latin typeface="Calibri"/>
              </a:rPr>
              <a:t>synchronisation, absence de doublon, cloisonnement entre enquêteurs, export.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5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6E4F"/>
                </a:solidFill>
                <a:latin typeface="Calibri"/>
              </a:rPr>
              <a:t>BILAN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211C"/>
                </a:solidFill>
                <a:latin typeface="Calibri"/>
              </a:rPr>
              <a:t>État d'avancement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88720"/>
            <a:ext cx="1371600" cy="3810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554480"/>
          <a:ext cx="1078992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554480"/>
                <a:gridCol w="5029200"/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Fonctionnalité</a:t>
                      </a:r>
                    </a:p>
                  </a:txBody>
                  <a:tcPr anchor="ctr">
                    <a:solidFill>
                      <a:srgbClr val="0B6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État</a:t>
                      </a:r>
                    </a:p>
                  </a:txBody>
                  <a:tcPr anchor="ctr">
                    <a:solidFill>
                      <a:srgbClr val="0B6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Précision</a:t>
                      </a:r>
                    </a:p>
                  </a:txBody>
                  <a:tcPr anchor="ctr">
                    <a:solidFill>
                      <a:srgbClr val="0B6E4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4211C"/>
                          </a:solidFill>
                          <a:latin typeface="Calibri"/>
                        </a:rPr>
                        <a:t>Authentification en ligne et hors ligne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3625B"/>
                          </a:solidFill>
                          <a:latin typeface="Calibri"/>
                        </a:rPr>
                        <a:t>Terminé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3625B"/>
                          </a:solidFill>
                          <a:latin typeface="Calibri"/>
                        </a:rPr>
                        <a:t>Session renouvelée automatiquement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4211C"/>
                          </a:solidFill>
                          <a:latin typeface="Calibri"/>
                        </a:rPr>
                        <a:t>Téléchargement des questionnaires</a:t>
                      </a:r>
                    </a:p>
                  </a:txBody>
                  <a:tcPr anchor="ctr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3625B"/>
                          </a:solidFill>
                          <a:latin typeface="Calibri"/>
                        </a:rPr>
                        <a:t>Terminé</a:t>
                      </a:r>
                    </a:p>
                  </a:txBody>
                  <a:tcPr anchor="ctr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3625B"/>
                          </a:solidFill>
                          <a:latin typeface="Calibri"/>
                        </a:rPr>
                        <a:t>Mise en cache locale</a:t>
                      </a:r>
                    </a:p>
                  </a:txBody>
                  <a:tcPr anchor="ctr">
                    <a:solidFill>
                      <a:srgbClr val="F7FA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4211C"/>
                          </a:solidFill>
                          <a:latin typeface="Calibri"/>
                        </a:rPr>
                        <a:t>Affichage dynamique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3625B"/>
                          </a:solidFill>
                          <a:latin typeface="Calibri"/>
                        </a:rPr>
                        <a:t>Partiel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3625B"/>
                          </a:solidFill>
                          <a:latin typeface="Calibri"/>
                        </a:rPr>
                        <a:t>Six types affichés sur vingt prévus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4211C"/>
                          </a:solidFill>
                          <a:latin typeface="Calibri"/>
                        </a:rPr>
                        <a:t>Saisie et sauvegarde hors ligne</a:t>
                      </a:r>
                    </a:p>
                  </a:txBody>
                  <a:tcPr anchor="ctr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3625B"/>
                          </a:solidFill>
                          <a:latin typeface="Calibri"/>
                        </a:rPr>
                        <a:t>Terminé</a:t>
                      </a:r>
                    </a:p>
                  </a:txBody>
                  <a:tcPr anchor="ctr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3625B"/>
                          </a:solidFill>
                          <a:latin typeface="Calibri"/>
                        </a:rPr>
                        <a:t>Enregistrement à chaque réponse</a:t>
                      </a:r>
                    </a:p>
                  </a:txBody>
                  <a:tcPr anchor="ctr">
                    <a:solidFill>
                      <a:srgbClr val="F7FA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4211C"/>
                          </a:solidFill>
                          <a:latin typeface="Calibri"/>
                        </a:rPr>
                        <a:t>Synchronisation montante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3625B"/>
                          </a:solidFill>
                          <a:latin typeface="Calibri"/>
                        </a:rPr>
                        <a:t>Terminé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3625B"/>
                          </a:solidFill>
                          <a:latin typeface="Calibri"/>
                        </a:rPr>
                        <a:t>Réessais et absence de doublon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4211C"/>
                          </a:solidFill>
                          <a:latin typeface="Calibri"/>
                        </a:rPr>
                        <a:t>Synchronisation descendante</a:t>
                      </a:r>
                    </a:p>
                  </a:txBody>
                  <a:tcPr anchor="ctr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3625B"/>
                          </a:solidFill>
                          <a:latin typeface="Calibri"/>
                        </a:rPr>
                        <a:t>À faire</a:t>
                      </a:r>
                    </a:p>
                  </a:txBody>
                  <a:tcPr anchor="ctr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3625B"/>
                          </a:solidFill>
                          <a:latin typeface="Calibri"/>
                        </a:rPr>
                        <a:t>Le serveur ne renvoie pas l'historique</a:t>
                      </a:r>
                    </a:p>
                  </a:txBody>
                  <a:tcPr anchor="ctr">
                    <a:solidFill>
                      <a:srgbClr val="F7FA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4211C"/>
                          </a:solidFill>
                          <a:latin typeface="Calibri"/>
                        </a:rPr>
                        <a:t>Gestion des conflits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3625B"/>
                          </a:solidFill>
                          <a:latin typeface="Calibri"/>
                        </a:rPr>
                        <a:t>À faire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3625B"/>
                          </a:solidFill>
                          <a:latin typeface="Calibri"/>
                        </a:rPr>
                        <a:t>Le dernier envoi écrase le précédent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4211C"/>
                          </a:solidFill>
                          <a:latin typeface="Calibri"/>
                        </a:rPr>
                        <a:t>Interface bilingue français / arabe</a:t>
                      </a:r>
                    </a:p>
                  </a:txBody>
                  <a:tcPr anchor="ctr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3625B"/>
                          </a:solidFill>
                          <a:latin typeface="Calibri"/>
                        </a:rPr>
                        <a:t>Terminé</a:t>
                      </a:r>
                    </a:p>
                  </a:txBody>
                  <a:tcPr anchor="ctr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3625B"/>
                          </a:solidFill>
                          <a:latin typeface="Calibri"/>
                        </a:rPr>
                        <a:t>Y compris le sens de lecture</a:t>
                      </a:r>
                    </a:p>
                  </a:txBody>
                  <a:tcPr anchor="ctr">
                    <a:solidFill>
                      <a:srgbClr val="F7FA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4211C"/>
                          </a:solidFill>
                          <a:latin typeface="Calibri"/>
                        </a:rPr>
                        <a:t>Génération par 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3625B"/>
                          </a:solidFill>
                          <a:latin typeface="Calibri"/>
                        </a:rPr>
                        <a:t>Terminé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3625B"/>
                          </a:solidFill>
                          <a:latin typeface="Calibri"/>
                        </a:rPr>
                        <a:t>Avec relecture avant publication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4211C"/>
                          </a:solidFill>
                          <a:latin typeface="Calibri"/>
                        </a:rPr>
                        <a:t>Export et tableau de bord</a:t>
                      </a:r>
                    </a:p>
                  </a:txBody>
                  <a:tcPr anchor="ctr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3625B"/>
                          </a:solidFill>
                          <a:latin typeface="Calibri"/>
                        </a:rPr>
                        <a:t>Terminé</a:t>
                      </a:r>
                    </a:p>
                  </a:txBody>
                  <a:tcPr anchor="ctr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3625B"/>
                          </a:solidFill>
                          <a:latin typeface="Calibri"/>
                        </a:rPr>
                        <a:t>CSV compatible Excel</a:t>
                      </a:r>
                    </a:p>
                  </a:txBody>
                  <a:tcPr anchor="ctr"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5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6E4F"/>
                </a:solidFill>
                <a:latin typeface="Calibri"/>
              </a:rPr>
              <a:t>PERSPECTIVES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211C"/>
                </a:solidFill>
                <a:latin typeface="Calibri"/>
              </a:rPr>
              <a:t>Prochaines étapes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88720"/>
            <a:ext cx="1371600" cy="3810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4211C"/>
                </a:solidFill>
                <a:latin typeface="Calibri"/>
              </a:rPr>
              <a:t>Synchronisation descendante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3625B"/>
                </a:solidFill>
                <a:latin typeface="Calibri"/>
              </a:rPr>
              <a:t>Aujourd'hui les réponses ne montent que vers le serveur. Si un enquêteur change</a:t>
            </a:r>
            <a:br/>
            <a:r>
              <a:rPr sz="1400" b="0">
                <a:solidFill>
                  <a:srgbClr val="53625B"/>
                </a:solidFill>
                <a:latin typeface="Calibri"/>
              </a:rPr>
              <a:t>de téléphone, son historique local est perdu. C'est la priorité suivante.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14211C"/>
                </a:solidFill>
                <a:latin typeface="Calibri"/>
              </a:rPr>
              <a:t>Gestion des conflits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3625B"/>
                </a:solidFill>
                <a:latin typeface="Calibri"/>
              </a:rPr>
              <a:t>Détecter qu'une même réponse a été modifiée des deux côtés, plutôt que de laisser</a:t>
            </a:r>
            <a:br/>
            <a:r>
              <a:rPr sz="1400" b="0">
                <a:solidFill>
                  <a:srgbClr val="53625B"/>
                </a:solidFill>
                <a:latin typeface="Calibri"/>
              </a:rPr>
              <a:t>le dernier envoi écraser le précédent.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14211C"/>
                </a:solidFill>
                <a:latin typeface="Calibri"/>
              </a:rPr>
              <a:t>Compilation Android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3625B"/>
                </a:solidFill>
                <a:latin typeface="Calibri"/>
              </a:rPr>
              <a:t>Le code est déjà multiplateforme. La production de l'application installable</a:t>
            </a:r>
            <a:br/>
            <a:r>
              <a:rPr sz="1400" b="0">
                <a:solidFill>
                  <a:srgbClr val="53625B"/>
                </a:solidFill>
                <a:latin typeface="Calibri"/>
              </a:rPr>
              <a:t>ne demande qu'un environnement de compilation.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14211C"/>
                </a:solidFill>
                <a:latin typeface="Calibri"/>
              </a:rPr>
              <a:t>Types de questions supplémentaires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3625B"/>
                </a:solidFill>
                <a:latin typeface="Calibri"/>
              </a:rPr>
              <a:t>Localisation GPS, photographie, signature, selon les besoins réels du HCP.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14211C"/>
                </a:solidFill>
                <a:latin typeface="Calibri"/>
              </a:rPr>
              <a:t>Durcissement pour la mise en production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3625B"/>
                </a:solidFill>
                <a:latin typeface="Calibri"/>
              </a:rPr>
              <a:t>HTTPS, migrations de base versionnées, intégration continue.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5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0B6E4F"/>
                </a:solidFill>
                <a:latin typeface="Calibri"/>
              </a:rPr>
              <a:t>En résumé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4211C"/>
                </a:solidFill>
                <a:latin typeface="Calibri"/>
              </a:rPr>
              <a:t>Une application de terrain réellement utilisable sans réseau,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4211C"/>
                </a:solidFill>
                <a:latin typeface="Calibri"/>
              </a:rPr>
              <a:t>capable d'accueillir n'importe quelle enquête sans reprogrammation,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</a:pPr>
            <a:r>
              <a:rPr sz="2600" b="1">
                <a:solidFill>
                  <a:srgbClr val="14211C"/>
                </a:solidFill>
                <a:latin typeface="Calibri"/>
              </a:rPr>
              <a:t>et un outil qui divise par cent le temps de préparation d'un questionnaire.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53625B"/>
                </a:solidFill>
                <a:latin typeface="Calibri"/>
              </a:rPr>
              <a:t>Merci de votre attention.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5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